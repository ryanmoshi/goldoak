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F2F2F"/>
                </a:solidFill>
                <a:latin typeface="Times New Roman"/>
              </a:defRPr>
            </a:pPr>
            <a:r>
              <a:rPr sz="1200" b="0" i="0" u="none" strike="noStrike">
                <a:solidFill>
                  <a:srgbClr val="2F2F2F"/>
                </a:solidFill>
                <a:latin typeface="Times New Roman"/>
              </a:rPr>
              <a:t>Year 1 Revenue Ramp (KSh '000)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(KSh '000)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F2F2F"/>
                    </a:solidFill>
                    <a:latin typeface="Times New Roman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 Pilot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120</c:v>
                </c:pt>
                <c:pt idx="2">
                  <c:v>433</c:v>
                </c:pt>
                <c:pt idx="3">
                  <c:v>945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F2F2F"/>
                  </a:solidFill>
                  <a:latin typeface="Times New Roman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A5A"/>
                </a:solidFill>
                <a:latin typeface="Times New Roman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FCF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5A5A"/>
                </a:solidFill>
                <a:latin typeface="Times New Roman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80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 AGENT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4023360" y="2560320"/>
            <a:ext cx="109728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Multi-Insurer Quote Generation Platform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 Kenyan Insurance Agents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Abigae Amina · Admission No. 100485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BBIT4202 — Innovations and Entrepreneurship · Strathmore University ·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Kenyan insurance agents are stuck in the 1990s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3474720" cy="2926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2–4</a:t>
            </a:r>
            <a:endParaRPr lang="en-US" sz="100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60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HOURS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 client, just to gather quotes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manually, by email and phone.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0" y="1554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Today, to write one policy an agent must: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06240" y="201168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F2F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Email or call every insurer individually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F2F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Wait hours — often into the next day — for responses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F2F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Transcribe quotes into Excel by hand to compare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F2F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Reconcile mismatched cover terms and exclusions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F2F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Lose the client to a faster agent or a direct channel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/ 12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 Agent · Pitch Deck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workstation built for agents, not insurers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73736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i="1" strike="sngStrike" dirty="0">
                <a:solidFill>
                  <a:srgbClr val="8C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hours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3931920" y="2057400"/>
            <a:ext cx="1188720" cy="457200"/>
          </a:xfrm>
          <a:prstGeom prst="rtTriangl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0" y="173736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60 seconds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914400" y="32918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F2F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 Agent is a cloud-based platform that integrates with multiple insurer rating engines and returns real-time, side-by-side quote comparisons — in a single dashboard.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Multi-Insurer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480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API integration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4160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Branded PDF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4480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IRA-compliant output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0" y="4160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CRM Built-in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4480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Renewals never missed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/ 12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 Agent · Pitch Deck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Kenya's insurance sector has headroom — and no direct competitor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C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KENYA TODAY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55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828800" y="18745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2F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Licensed insurance companies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4,500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828800" y="24688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2F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Licensed insurance agents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828800" y="30632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2F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Brokerage firms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2.43%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828800" y="36576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2F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GDP insurance penetration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Global average: ~7% of GDP — Kenya has room to triple.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645920"/>
            <a:ext cx="0" cy="3017520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554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C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ADDRESSABLE MARKET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1920240"/>
            <a:ext cx="393192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CFCF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9202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~4,750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46320" y="24231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TAM — All licensed agents + brokerages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2697480"/>
            <a:ext cx="2926080" cy="502920"/>
          </a:xfrm>
          <a:prstGeom prst="rect">
            <a:avLst/>
          </a:prstGeom>
          <a:solidFill>
            <a:srgbClr val="E6E6E6"/>
          </a:solidFill>
          <a:ln w="6350">
            <a:solidFill>
              <a:srgbClr val="CFCF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6974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~1,800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846320" y="32004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 — Tech-adopting urban agents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3474720"/>
            <a:ext cx="1645920" cy="502920"/>
          </a:xfrm>
          <a:prstGeom prst="rect">
            <a:avLst/>
          </a:prstGeom>
          <a:solidFill>
            <a:srgbClr val="2F2F2F"/>
          </a:solidFill>
          <a:ln w="6350">
            <a:solidFill>
              <a:srgbClr val="CFCFC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47472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100–200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46320" y="3977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SOM (Year 1) — Early adopters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/ 12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 Agent · Pitch Deck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Product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agent dashboard. All insurers. Real-time.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27432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645920"/>
            <a:ext cx="320040" cy="3200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6002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Multi-Insurer Quote Engine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0116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Single input queries every integrated insurer in parallel.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508760"/>
            <a:ext cx="27432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645920"/>
            <a:ext cx="320040" cy="3200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86200" y="16002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Side-by-Side Comparison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20116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Sort and filter by premium, coverage, insurer rating.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508760"/>
            <a:ext cx="27432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1645920"/>
            <a:ext cx="320040" cy="3200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66560" y="16002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Branded PDF Output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201168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Agent-branded, IRA-compliant quote ready for the client.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27432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154680"/>
            <a:ext cx="320040" cy="3200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154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1089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Integrated CRM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35204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Client records, quote history, automated renewal reminders.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37560" y="3017520"/>
            <a:ext cx="27432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3154680"/>
            <a:ext cx="320040" cy="3200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3154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86200" y="31089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WhatsApp Sharing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74720" y="35204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One-tap delivery via WhatsApp Business API.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3017520"/>
            <a:ext cx="27432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55080" y="3154680"/>
            <a:ext cx="320040" cy="32004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3154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66560" y="31089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Mobile Access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55080" y="352044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Android app for field agents; full web app for the desk.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/ 12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 Agent · Pitch Deck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Recurring SaaS — predictable, scalable, compounding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08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C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REVENUE STREAMS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Agent subscriptions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Tiered monthly pricing — primary Year 1 revenue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Insurer integration fees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One-time API setup per insurer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Insurer monthly listing fees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Ongoing platform access and lead flow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Lead conversion commission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Optional 0.5–1% of premiums bound via platform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15087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C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PRICING TIERS (Agent)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874520"/>
            <a:ext cx="39319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9476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22219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 to 50 quotes / month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0" y="2057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KSh 1,500/mo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2651760"/>
            <a:ext cx="3931920" cy="685800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7249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Professional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99923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Unlimited quotes + CRM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132320" y="2834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KSh 3,000/mo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3429000"/>
            <a:ext cx="393192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35021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Brokerage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37764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 to 15 agents on one plan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32320" y="36118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KSh 20,000/mo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F2F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Gross margin ≈ 85%    ·    LTV : CAC ≈ 20×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 / 12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 Agent · Pitch Deck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We Win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only multi-insurer real-time platform for Kenyan agents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2560320"/>
        </p:xfrm>
        <a:graphic>
          <a:graphicData uri="http://schemas.openxmlformats.org/drawingml/2006/table">
            <a:tbl>
              <a:tblPr/>
              <a:tblGrid>
                <a:gridCol w="2468880"/>
                <a:gridCol w="1005840"/>
                <a:gridCol w="1280160"/>
                <a:gridCol w="1188720"/>
                <a:gridCol w="91440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Speed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Multi-Insurer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Professional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CRM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Compliance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Email quoting (status quo)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✗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✗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✗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✗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Single-insurer portals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✓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✗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✓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✗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✓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WhatsApp quote groups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✓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—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✗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✗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✗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Super Agent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✓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✓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✓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✓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✓</a:t>
                      </a:r>
                      <a:endParaRPr lang="en-US" sz="12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F2F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First-mover in Kenya. CRM-based switching costs defend the position as competitors emerge.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 / 12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 Agent · Pitch Deck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Go-to-Market 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Build, prove, scale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27432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274320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Months 1–6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331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MVP + Pilot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2743200"/>
            <a:ext cx="2514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F2F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platform + integrate 3–5 insurers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F2F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Recruit 20–30 pilot agents via AIBK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F2F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 90-day pilot for feedback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554480"/>
            <a:ext cx="27432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37560" y="1554480"/>
            <a:ext cx="274320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600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0" y="1874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Months 7–12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2331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Paid Launch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74720" y="2743200"/>
            <a:ext cx="2514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F2F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Convert pilots to subscribers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F2F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Campaigns in Nairobi, Mombasa, Kisumu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F2F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Target: 130 paying agents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554480"/>
            <a:ext cx="27432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554480"/>
            <a:ext cx="274320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600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55080" y="1874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Months 13–24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23317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55080" y="2743200"/>
            <a:ext cx="2514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F2F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Expand nationwide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F2F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life + pension product lines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F2F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500+ agents; East Africa expansion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 / 12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 Agent · Pitch Deck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Financial Projections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conservative path to profitability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00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KSh 1.5M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98424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Year 1 revenue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KSh 12M+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7157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Year 2 revenue (projected)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Month 18–20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344728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Break-even at ~102 agents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794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 ×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41788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LTV : CAC ratio</a:t>
            </a:r>
            <a:endParaRPr lang="en-US" sz="11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297680" y="1554480"/>
          <a:ext cx="44805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 / 12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 Agent · Pitch Deck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Team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Lean, technical, and close to the customer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36576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109728" cy="12801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Abigae Amina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011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Founder &amp; CEO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22860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Product vision, business strategy, agent relationships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554480"/>
            <a:ext cx="36576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554480"/>
            <a:ext cx="109728" cy="12801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6916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 Developer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92040" y="2011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22860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Insurer API integrations, rating engine, data security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017520"/>
            <a:ext cx="36576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017520"/>
            <a:ext cx="109728" cy="12801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1546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 Developer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0120" y="3474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3749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Web + mobile UX, agent dashboard, PDF generation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017520"/>
            <a:ext cx="36576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3017520"/>
            <a:ext cx="109728" cy="12801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1546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Sales &amp; Agent Relations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92040" y="3474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37490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2F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Agent onboarding, brokerage partnerships, support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Plus: retained legal &amp; compliance counsel · Strathmore iBiz Africa mentorship network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/ 12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 Agent · Pitch Deck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Ask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Seed funding to MVP and first 100 agents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9525">
            <a:solidFill>
              <a:srgbClr val="CFCF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3931920" cy="2926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KSh 800,000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500" kern="0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SEED ROUND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1680" y="3200400"/>
            <a:ext cx="82296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3832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10–20% equity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Projected 5–8× return in 5 years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0233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Break-even: Month 18–20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15544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C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OF FUNDS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1874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Platform development (MVP)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0" y="1965960"/>
            <a:ext cx="914400" cy="1828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21040" y="18745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Insurer API integrations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0" y="2377440"/>
            <a:ext cx="347472" cy="1828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22860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697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Operating runway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0" y="2788920"/>
            <a:ext cx="201168" cy="1828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21040" y="26974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3108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Legal, compliance, incorp.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0" y="3200400"/>
            <a:ext cx="182880" cy="1828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31089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3520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Marketing launch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0" y="3611880"/>
            <a:ext cx="109728" cy="1828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35204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3931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Branding &amp; design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315200" y="4023360"/>
            <a:ext cx="73152" cy="1828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39319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4%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2960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 / 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6576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Super Agent · Pitch Deck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spc="100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4023360" y="2468880"/>
            <a:ext cx="109728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2F2F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Let's turn 4 hours into 60 seconds.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Abigae Amina · Founder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abigae.amina@strathmore.edu · +254 7XX XXX XXX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Strathmore University · April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 Agent — Pitch Deck</dc:title>
  <dc:subject>PptxGenJS Presentation</dc:subject>
  <dc:creator>Abigae Amina</dc:creator>
  <cp:lastModifiedBy>Abigae Amina</cp:lastModifiedBy>
  <cp:revision>1</cp:revision>
  <dcterms:created xsi:type="dcterms:W3CDTF">2026-04-19T17:30:48Z</dcterms:created>
  <dcterms:modified xsi:type="dcterms:W3CDTF">2026-04-19T17:30:48Z</dcterms:modified>
</cp:coreProperties>
</file>